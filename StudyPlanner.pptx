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 rtl="0">
      <a:defRPr lang="uk-ua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2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926F5A1A-C6D9-44C7-8AF9-B3D9A76BCC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67FB1C9-B6CF-4C17-9825-B54DBE29AB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6253-2FC9-478E-9E5F-F63A413325D6}" type="datetime1">
              <a:rPr lang="uk-UA" smtClean="0"/>
              <a:t>14.09.2026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F3ADDD5-2B95-42E3-857F-FD36F18BBA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8D21255-B1D4-40D4-93D0-8C14A357C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21AB7-EF6E-4D11-AD85-B9F35FE2EC3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17099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B2EBE9B-4D8D-466D-B613-145F77B51E9E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4" name="Місце для зображення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uk-UA" noProof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275CD8D-B1D9-4658-A4F0-38CA8D83ED5D}" type="slidenum">
              <a:rPr lang="uk-UA" noProof="0" smtClean="0"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275CD8D-B1D9-4658-A4F0-38CA8D83ED5D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7448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Рисунок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Група 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Прямокутник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Полілінія 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Полілінія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Прямокутник 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Полілінія 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Полілінія 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Полілінія 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Полілінія 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Полілінія 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Полілінія 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Полілінія 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Полілінія 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Полілінія 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Полілінія 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Полілінія 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Полілінія 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Полілінія 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Полілінія 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Полілінія 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Полілінія 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Полілінія 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Полілінія 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Полілінія 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Полілінія 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Полілінія 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Полілінія 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Полілінія 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Полілінія 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Прямокутник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Полілінія 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Полілінія 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Полілінія 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Полілінія 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Полілінія 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Полілінія 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Полілінія 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Полілінія 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Полілінія 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Полілінія 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Полілінія 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Прямокутник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Полілінія 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Полілінія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Полілінія 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Полілінія 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Полілінія 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Полілінія 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Полілінія 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Полілінія 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Полілінія 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Полілінія 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Полілінія 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Полілінія 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Полілінія 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uk-UA" noProof="0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14C1FB08-D3DF-46AF-ADEA-E95BA97819FC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6" name="Місце для номера слайда 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7F578-9A13-4155-BF8A-F151BB0C7F71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5" name="Місце для нижнього колонтитула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6914C1-9709-483B-8FA0-ECB69571D064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5" name="Місце для нижнього колонтитула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0B48B3-46BD-4675-BECC-6EA7D0760D8A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4B6603-BD16-457E-A363-BA87DCAC5E3B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C5D21A-501B-4A7A-A0D6-DB22BA1286BB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FAB009-C1F7-422A-BB90-543BADE43299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F584F5-3E4C-4126-9320-D52C3C9FD9FD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F623B-2039-4F90-B6BD-9E4775263F61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B9F71C-4696-402C-89E7-991312AA7D2C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CFD027-DEFB-4DDC-BDBE-9A03234F4626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12" name="Місце для тексту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Клацніть, щоб змінити стилі зразків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4768EA5-707E-4B7D-AF34-3D96F57E531E}" type="datetime1">
              <a:rPr lang="uk-UA" smtClean="0"/>
              <a:pPr/>
              <a:t>14.09.2026</a:t>
            </a:fld>
            <a:endParaRPr lang="uk-U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uk-U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D22F896-40B5-4ADD-8801-0D06FADFA095}" type="slidenum">
              <a:rPr lang="uk-UA" smtClean="0"/>
              <a:pPr/>
              <a:t>‹№›</a:t>
            </a:fld>
            <a:endParaRPr lang="uk-U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Текстове поле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uk-UA" sz="8000" noProof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</p:txBody>
      </p:sp>
      <p:sp>
        <p:nvSpPr>
          <p:cNvPr id="61" name="Текстове поле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uk-UA" sz="8000" noProof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з і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D1B700-0BBC-48F1-9B54-1F6CF299CF53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стовпц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7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Місце для тексту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Клацніть, щоб змінити стилі зразків тексту</a:t>
            </a:r>
          </a:p>
        </p:txBody>
      </p:sp>
      <p:sp>
        <p:nvSpPr>
          <p:cNvPr id="9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10" name="Місце для тексту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11" name="Місце для тексту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12" name="Місце для тексту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Клацніть, щоб змінити стилі зразків тексту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CD3528-369D-4889-A9C2-AD5BF5B6BA36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стовпці зображе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19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20" name="Місце для зображення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21" name="Місце для тексту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22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23" name="Місце для зображення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24" name="Місце для тексту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Клацніть, щоб змінити стилі зразків тексту</a:t>
            </a:r>
          </a:p>
        </p:txBody>
      </p:sp>
      <p:sp>
        <p:nvSpPr>
          <p:cNvPr id="25" name="Місце для тексту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26" name="Місце для зображення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27" name="Місце для тексту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 noProof="0"/>
              <a:t>Клацніть, щоб змінити стилі зразків тексту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35C156-CF3C-4D5A-8D92-644A01140EE5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DDABCB-C401-492F-935E-2227A620E026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5" name="Місце для нижнього колонтитула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 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317A70-DECA-4ACB-B96A-2447A016B732}" type="datetime1">
              <a:rPr lang="uk-UA" noProof="0" smtClean="0"/>
              <a:t>14.09.2026</a:t>
            </a:fld>
            <a:endParaRPr lang="uk-UA" noProof="0"/>
          </a:p>
        </p:txBody>
      </p:sp>
      <p:sp>
        <p:nvSpPr>
          <p:cNvPr id="5" name="Місце для нижнього колонтитула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uk-UA" noProof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uk-UA" noProof="0" smtClean="0"/>
              <a:t>‹№›</a:t>
            </a:fld>
            <a:endParaRPr lang="uk-UA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Група 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Група 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Прямокутник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Полілінія 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Полілінія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Полілінія 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Полілінія 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Полілінія 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Полілінія 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Полілінія 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Полілінія 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Полілінія 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Полілінія 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Лінія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Полілінія 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Полілінія 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Полілінія 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Полілінія 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Прямокутник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Полілінія 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Полілінія 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Полілінія 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Полілінія 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Полілінія 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Полілінія 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Полілінія 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Полілінія 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Полілінія 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Полілінія 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Група 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Полілінія 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Полілінія 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Полілінія 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Полілінія 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Полілінія 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Полілінія 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Полілінія 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Полілінія 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Полілінія 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Прямокутник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uk-UA" noProof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60BCA51-4B7F-40E5-A18D-EBAA10192DB5}" type="datetime1">
              <a:rPr lang="uk-UA" noProof="0" smtClean="0">
                <a:latin typeface="Calibri" panose="020F0502020204030204" pitchFamily="34" charset="0"/>
                <a:cs typeface="Calibri" panose="020F0502020204030204" pitchFamily="34" charset="0"/>
              </a:rPr>
              <a:t>14.09.2026</a:t>
            </a:fld>
            <a:endParaRPr lang="uk-UA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uk-UA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D22F896-40B5-4ADD-8801-0D06FADFA095}" type="slidenum">
              <a:rPr lang="uk-UA" noProof="0" smtClean="0"/>
              <a:pPr/>
              <a:t>‹№›</a:t>
            </a:fld>
            <a:endParaRPr lang="uk-UA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Група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Прямокутник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uk-UA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9" name="Рисунок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6="http://schemas.microsoft.com/office/drawing/2014/main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Рисунок 4" descr="збільшене зображення електричної плати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30000"/>
          </a:blip>
          <a:srcRect t="6504" b="9202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81" name="Група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Прямокутник із двома округленими протилежними кутами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uk-UA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3" name="Група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Полілінія 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Полілінія 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Полілінія 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Полілінія 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Полілінія 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Полілінія 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Полілінія 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Полілінія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Полілінія 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Прямокутник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Полілінія 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Полілінія 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Полілінія 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Полілінія 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Полілінія 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Полілінія 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Полілінія 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Полілінія 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Полілінія 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Прямокутник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06D94B3-3D7B-6E3F-EC4C-36A1651396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595034" y="2233846"/>
            <a:ext cx="700616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endParaRPr kumimoji="0" lang="uk-UA" altLang="uk-UA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Вебпланувальник</a:t>
            </a:r>
            <a:r>
              <a:rPr kumimoji="0" lang="uk-UA" altLang="uk-U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навчальних завдань</a:t>
            </a:r>
            <a:endParaRPr kumimoji="0" lang="uk-UA" altLang="uk-UA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 робота №1</a:t>
            </a:r>
            <a:b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«Ініціювання командного ІТ-</a:t>
            </a:r>
            <a:r>
              <a:rPr kumimoji="0" lang="uk-UA" altLang="uk-UA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</a:t>
            </a:r>
            <a:r>
              <a:rPr lang="uk-UA" altLang="uk-UA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є</a:t>
            </a:r>
            <a:r>
              <a:rPr kumimoji="0" lang="uk-UA" altLang="uk-UA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кту</a:t>
            </a: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Пархомчук О.</a:t>
            </a: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51504A6-E49B-4179-5816-4079FDD0D537}"/>
              </a:ext>
            </a:extLst>
          </p:cNvPr>
          <p:cNvSpPr/>
          <p:nvPr/>
        </p:nvSpPr>
        <p:spPr>
          <a:xfrm>
            <a:off x="1560945" y="1200727"/>
            <a:ext cx="9550400" cy="3556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Мій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називається </a:t>
            </a:r>
            <a:r>
              <a:rPr lang="en-US" sz="2800" dirty="0" err="1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lang="en-US" sz="28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вебзастосунок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призначений для організації та контролю навчальних завдань. Основна ідея полягає в тому, щоб студент міг зберігати свої завдання в одному місці, встановлювати дедлайни та пріоритети і контролювати їх виконання.</a:t>
            </a:r>
          </a:p>
        </p:txBody>
      </p:sp>
    </p:spTree>
    <p:extLst>
      <p:ext uri="{BB962C8B-B14F-4D97-AF65-F5344CB8AC3E}">
        <p14:creationId xmlns:p14="http://schemas.microsoft.com/office/powerpoint/2010/main" val="345036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48BB44F8-9AE6-CE8D-88B4-A0E822AB3F3E}"/>
              </a:ext>
            </a:extLst>
          </p:cNvPr>
          <p:cNvSpPr/>
          <p:nvPr/>
        </p:nvSpPr>
        <p:spPr>
          <a:xfrm>
            <a:off x="1108364" y="609600"/>
            <a:ext cx="10344727" cy="57450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91CCD6-E7AC-69CD-A04F-5364CB4C8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145" y="716369"/>
            <a:ext cx="967971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Яку проблему вирішує </a:t>
            </a:r>
            <a:r>
              <a:rPr kumimoji="0" lang="uk-UA" altLang="uk-UA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проєкт</a:t>
            </a: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має багато завдань з різних дисциплін.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 може зберігатися в різних місцях: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месенджерах;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електронному журналі;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блокноті;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нотатках;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 файлах.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uk-UA" altLang="uk-UA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Через це можна: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забути про завдання;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пропустити дедлайн;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визначити пріоритетність роботи.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 проблема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Студенту потрібен простий інструмент для централізованого контролю навчальних завдань.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полягає не просто у великій кількості завдань, а в тому, що вони можуть бути розподілені між різними джерелами. Через це студенту складніше контролювати свій навчальний процес. </a:t>
            </a:r>
          </a:p>
        </p:txBody>
      </p:sp>
    </p:spTree>
    <p:extLst>
      <p:ext uri="{BB962C8B-B14F-4D97-AF65-F5344CB8AC3E}">
        <p14:creationId xmlns:p14="http://schemas.microsoft.com/office/powerpoint/2010/main" val="390816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53B4A96-07B2-C3ED-1580-16C1C3B8F567}"/>
              </a:ext>
            </a:extLst>
          </p:cNvPr>
          <p:cNvSpPr/>
          <p:nvPr/>
        </p:nvSpPr>
        <p:spPr>
          <a:xfrm>
            <a:off x="1265381" y="514927"/>
            <a:ext cx="10113818" cy="58281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27E8EE-4943-1091-747E-DAE7524BE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381" y="607001"/>
            <a:ext cx="1011381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 та цільова аудиторія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Запропоноване рішення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вебзастосунок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який дозволяє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створювати завдання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вказувати предмет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встановлювати дедлайн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визначати пріоритет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позначати виконані завдання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видаляти завдання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фільтрувати список</a:t>
            </a:r>
            <a:b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переглядати статистику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Цільова аудиторія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 це 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студенти коледжів та університетів.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Додаткова це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uk-UA" alt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учні, які хочуть організувати навчальні завдання.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Цільовою аудиторією є студенти, яким потрібно контролювати навчальні роботи.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 свідомо не робитиму  систему складною, основна перевага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простота використання.</a:t>
            </a:r>
          </a:p>
        </p:txBody>
      </p:sp>
    </p:spTree>
    <p:extLst>
      <p:ext uri="{BB962C8B-B14F-4D97-AF65-F5344CB8AC3E}">
        <p14:creationId xmlns:p14="http://schemas.microsoft.com/office/powerpoint/2010/main" val="20356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80CE3540-457D-DD50-ABFD-BBAF45FCD323}"/>
              </a:ext>
            </a:extLst>
          </p:cNvPr>
          <p:cNvSpPr/>
          <p:nvPr/>
        </p:nvSpPr>
        <p:spPr>
          <a:xfrm>
            <a:off x="1140691" y="348672"/>
            <a:ext cx="10150763" cy="61606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E5B4D57E-AAC6-014B-1BE2-042CCCFC5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299833"/>
              </p:ext>
            </p:extLst>
          </p:nvPr>
        </p:nvGraphicFramePr>
        <p:xfrm>
          <a:off x="1302327" y="1599444"/>
          <a:ext cx="4983018" cy="3659110"/>
        </p:xfrm>
        <a:graphic>
          <a:graphicData uri="http://schemas.openxmlformats.org/drawingml/2006/table">
            <a:tbl>
              <a:tblPr/>
              <a:tblGrid>
                <a:gridCol w="2487213">
                  <a:extLst>
                    <a:ext uri="{9D8B030D-6E8A-4147-A177-3AD203B41FA5}">
                      <a16:colId xmlns:a16="http://schemas.microsoft.com/office/drawing/2014/main" val="2505474955"/>
                    </a:ext>
                  </a:extLst>
                </a:gridCol>
                <a:gridCol w="2495805">
                  <a:extLst>
                    <a:ext uri="{9D8B030D-6E8A-4147-A177-3AD203B41FA5}">
                      <a16:colId xmlns:a16="http://schemas.microsoft.com/office/drawing/2014/main" val="259821438"/>
                    </a:ext>
                  </a:extLst>
                </a:gridCol>
              </a:tblGrid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Функція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MVP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57362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Створення завдання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18575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Перегляд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323269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599692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Дедлайн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7222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Пріоритет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80304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Позначення виконаним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488293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Видалення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388060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Фільтрація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684145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Статистика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332523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Авторизація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501538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Серверна БД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191734"/>
                  </a:ext>
                </a:extLst>
              </a:tr>
              <a:tr h="272439">
                <a:tc>
                  <a:txBody>
                    <a:bodyPr/>
                    <a:lstStyle/>
                    <a:p>
                      <a:r>
                        <a:rPr lang="uk-UA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Мобільний застосунок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marL="68110" marR="68110" marT="34055" marB="34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46328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F4F8B15-C31E-DED8-492D-7F084DA6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964" y="554471"/>
            <a:ext cx="10150763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Мета та MVP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Мета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uk-UA" altLang="uk-UA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мінімально життєздатну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вебверсію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яка дозволяє користувачу створювати, переглядати, виконувати та видаляти навчальні завдання.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MVP - перша версія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A74CE-80CF-8E1F-E273-C3C6D7406FD9}"/>
              </a:ext>
            </a:extLst>
          </p:cNvPr>
          <p:cNvSpPr txBox="1"/>
          <p:nvPr/>
        </p:nvSpPr>
        <p:spPr>
          <a:xfrm>
            <a:off x="1221509" y="5422275"/>
            <a:ext cx="998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визначив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MVP,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намагатися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одразу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створити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велику систему.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першій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1.0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реалізуються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тільки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635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C036864A-2E5E-1BDB-862F-50087F7E85D0}"/>
              </a:ext>
            </a:extLst>
          </p:cNvPr>
          <p:cNvSpPr/>
          <p:nvPr/>
        </p:nvSpPr>
        <p:spPr>
          <a:xfrm>
            <a:off x="1376220" y="621145"/>
            <a:ext cx="9264072" cy="53940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5D3A7-6CB2-CD6C-21F7-204100FA0700}"/>
              </a:ext>
            </a:extLst>
          </p:cNvPr>
          <p:cNvSpPr txBox="1"/>
          <p:nvPr/>
        </p:nvSpPr>
        <p:spPr>
          <a:xfrm>
            <a:off x="1376220" y="2013527"/>
            <a:ext cx="92640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</a:p>
          <a:p>
            <a:pPr algn="ctr"/>
            <a:endParaRPr lang="uk-UA" sz="2400" dirty="0"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Технологічний стек який буде використаний в розробці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вебзастосунку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lang="en-US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Структура відповідає за - меню; форму; список завдань; статистику; інформаційні блоки. </a:t>
            </a:r>
          </a:p>
          <a:p>
            <a:r>
              <a:rPr lang="en-US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uk-UA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Дизайн відповідає за - фонове відео; кольори; картки; кнопки; анімації; адаптивність. </a:t>
            </a:r>
          </a:p>
          <a:p>
            <a:r>
              <a:rPr lang="en-US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uk-UA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Логіка відповідає за - додавання; видалення; виконання; фільтрацію; статистику. </a:t>
            </a:r>
          </a:p>
          <a:p>
            <a:r>
              <a:rPr lang="en-US" sz="16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+ GitHub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Контроль версій - використовується для збереження історії розробки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7722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AB5FEE8D-7CF3-F00E-7A22-3F70DA1911BE}"/>
              </a:ext>
            </a:extLst>
          </p:cNvPr>
          <p:cNvSpPr/>
          <p:nvPr/>
        </p:nvSpPr>
        <p:spPr>
          <a:xfrm>
            <a:off x="1311564" y="563418"/>
            <a:ext cx="9956800" cy="58650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0B025-394D-CE8F-FA54-4FBE90CAB554}"/>
              </a:ext>
            </a:extLst>
          </p:cNvPr>
          <p:cNvSpPr txBox="1"/>
          <p:nvPr/>
        </p:nvSpPr>
        <p:spPr>
          <a:xfrm>
            <a:off x="1496292" y="800288"/>
            <a:ext cx="977207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8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Подальший розвиток</a:t>
            </a:r>
          </a:p>
          <a:p>
            <a:pPr algn="ctr"/>
            <a:endParaRPr lang="uk-UA" sz="2800" dirty="0"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результаті створення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вебзастосунку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StudyPlanner</a:t>
            </a:r>
            <a:r>
              <a:rPr lang="en-US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який буде вирішувати поставлену проблему; матиме простий інтерфейс; дозволе керувати завданнями; матиме фільтрацію та статистику</a:t>
            </a:r>
            <a:r>
              <a:rPr lang="uk-UA">
                <a:latin typeface="Times New Roman" panose="02020603050405020304" pitchFamily="18" charset="0"/>
                <a:cs typeface="Times New Roman" panose="02020603050405020304" pitchFamily="18" charset="0"/>
              </a:rPr>
              <a:t>; адаптування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різних розмірів екрана.</a:t>
            </a: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800" dirty="0"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У версії 2.0 заплановано: реєстрація та авторизація; серверна база даних; нагадування про дедлайни;  мобільна версія; синхронізація між пристроями.</a:t>
            </a:r>
          </a:p>
          <a:p>
            <a:endParaRPr lang="uk-UA" dirty="0"/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4489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хема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967161_TF45165253" id="{94EAA9FA-7A6C-45F5-B8C4-38C64A1BE3FE}" vid="{94A07D6A-53F0-48BD-A7CD-E24589B6EFD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оформлення Схема</Template>
  <TotalTime>120</TotalTime>
  <Words>466</Words>
  <Application>Microsoft Office PowerPoint</Application>
  <PresentationFormat>Широкий екран</PresentationFormat>
  <Paragraphs>82</Paragraphs>
  <Slides>7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Схема</vt:lpstr>
      <vt:lpstr>StudyPlanner Вебпланувальник навчальних завдань Лабораторна робота №1 «Ініціювання командного ІТ-проєкту» Студент Пархомчук О.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TANYA</dc:creator>
  <cp:lastModifiedBy>TANYA</cp:lastModifiedBy>
  <cp:revision>17</cp:revision>
  <dcterms:created xsi:type="dcterms:W3CDTF">2026-09-14T15:28:56Z</dcterms:created>
  <dcterms:modified xsi:type="dcterms:W3CDTF">2026-09-14T17:29:12Z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